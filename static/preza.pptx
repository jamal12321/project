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7516B-8AC5-4803-BA38-BE91738D397F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C50A7-195F-41E1-88B1-186A28E17DC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07929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7516B-8AC5-4803-BA38-BE91738D397F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C50A7-195F-41E1-88B1-186A28E17DC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95589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7516B-8AC5-4803-BA38-BE91738D397F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C50A7-195F-41E1-88B1-186A28E17DC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6251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7516B-8AC5-4803-BA38-BE91738D397F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C50A7-195F-41E1-88B1-186A28E17DC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54689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7516B-8AC5-4803-BA38-BE91738D397F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C50A7-195F-41E1-88B1-186A28E17DC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82714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7516B-8AC5-4803-BA38-BE91738D397F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C50A7-195F-41E1-88B1-186A28E17DC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68369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7516B-8AC5-4803-BA38-BE91738D397F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C50A7-195F-41E1-88B1-186A28E17DC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07483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7516B-8AC5-4803-BA38-BE91738D397F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C50A7-195F-41E1-88B1-186A28E17DC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86219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7516B-8AC5-4803-BA38-BE91738D397F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C50A7-195F-41E1-88B1-186A28E17DC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9594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7516B-8AC5-4803-BA38-BE91738D397F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C50A7-195F-41E1-88B1-186A28E17DC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02757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7516B-8AC5-4803-BA38-BE91738D397F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C50A7-195F-41E1-88B1-186A28E17DC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57508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7516B-8AC5-4803-BA38-BE91738D397F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C50A7-195F-41E1-88B1-186A28E17DC4}" type="slidenum">
              <a:rPr lang="ru-RU" smtClean="0"/>
              <a:t>‹#›</a:t>
            </a:fld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859257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7516B-8AC5-4803-BA38-BE91738D397F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C50A7-195F-41E1-88B1-186A28E17DC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67788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7516B-8AC5-4803-BA38-BE91738D397F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C50A7-195F-41E1-88B1-186A28E17DC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98006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7516B-8AC5-4803-BA38-BE91738D397F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C50A7-195F-41E1-88B1-186A28E17DC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71878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7516B-8AC5-4803-BA38-BE91738D397F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C50A7-195F-41E1-88B1-186A28E17DC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640166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7516B-8AC5-4803-BA38-BE91738D397F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C50A7-195F-41E1-88B1-186A28E17DC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9048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E477516B-8AC5-4803-BA38-BE91738D397F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6C50A7-195F-41E1-88B1-186A28E17DC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804564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football-guru-95e6.up.railway.app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872343" y="0"/>
            <a:ext cx="9144000" cy="1166327"/>
          </a:xfrm>
        </p:spPr>
        <p:txBody>
          <a:bodyPr/>
          <a:lstStyle/>
          <a:p>
            <a:r>
              <a:rPr lang="en-US" dirty="0" smtClean="0">
                <a:solidFill>
                  <a:schemeClr val="tx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Football guru</a:t>
            </a:r>
            <a:endParaRPr lang="ru-RU" dirty="0">
              <a:solidFill>
                <a:schemeClr val="tx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3318588" y="3281237"/>
            <a:ext cx="5836298" cy="1082351"/>
          </a:xfrm>
        </p:spPr>
        <p:txBody>
          <a:bodyPr>
            <a:normAutofit fontScale="85000" lnSpcReduction="10000"/>
          </a:bodyPr>
          <a:lstStyle/>
          <a:p>
            <a:r>
              <a:rPr lang="ru-RU" sz="32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Подготовил Бурцев Тимофей</a:t>
            </a:r>
            <a:endParaRPr lang="en-US" sz="3200" dirty="0" smtClean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3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Преподаватель: И.Е. Гайдук</a:t>
            </a:r>
          </a:p>
          <a:p>
            <a:endParaRPr lang="ru-RU" sz="3200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915677" y="5318407"/>
            <a:ext cx="236064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 smtClean="0"/>
              <a:t>Сургут 2026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19540791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56454" y="70163"/>
            <a:ext cx="9404723" cy="1400530"/>
          </a:xfrm>
        </p:spPr>
        <p:txBody>
          <a:bodyPr/>
          <a:lstStyle/>
          <a:p>
            <a:r>
              <a:rPr lang="ru-RU" b="1" dirty="0"/>
              <a:t>Актуальность, проблема, цель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Актуальность: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 Футбол – самый популярный вид спорта. Миллионы болельщиков пытаются предсказать исход матчей, но большинство прогнозов субъективны. Платные сервисы недоступны широкой аудитории.</a:t>
            </a:r>
          </a:p>
          <a:p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Проблема: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 Отсутствие бесплатного, простого и наглядного веб-инструмента для вероятностного прогнозирования исходов футбольных матчей на основе объективных данных.</a:t>
            </a:r>
          </a:p>
          <a:p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Цель: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 Разработать и опубликовать веб-приложение «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Football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Guru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», позволяющее получить прогноз в процентах (победа 1, ничья, победа 2</a:t>
            </a: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54323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10373342" cy="1400530"/>
          </a:xfrm>
        </p:spPr>
        <p:txBody>
          <a:bodyPr/>
          <a:lstStyle/>
          <a:p>
            <a:r>
              <a:rPr lang="ru-RU" b="1" dirty="0"/>
              <a:t>Объект, предмет, гипотеза, задачи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Объект: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 Спортивная статистика футбольных команд (победы, ничьи, поражения в последних 5 матчах).</a:t>
            </a:r>
          </a:p>
          <a:p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Предмет: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 Алгоритм преобразования статистических данных в вероятности исходов матча с учётом домашнего поля.</a:t>
            </a:r>
          </a:p>
          <a:p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Гипотеза: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 Если силу команды вычислять на основе побед (2 балла) и ничьих (1 балл) в последних 5 матчах, добавить поправку на домашнее поле (хозяева +20%, гости –10%), то вероятности будут объективны.</a:t>
            </a:r>
          </a:p>
          <a:p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Задачи: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 изучить API, спроектировать архитектуру, разработать алгоритм, реализовать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бэкенд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и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фронтенд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, интегрировать с API, протестировать, разместить на хостинге</a:t>
            </a: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75786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Методы и этапы реализации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03312" y="1853248"/>
            <a:ext cx="8946541" cy="4395151"/>
          </a:xfrm>
        </p:spPr>
        <p:txBody>
          <a:bodyPr>
            <a:normAutofit fontScale="85000" lnSpcReduction="20000"/>
          </a:bodyPr>
          <a:lstStyle/>
          <a:p>
            <a:r>
              <a:rPr lang="ru-RU" b="1" dirty="0"/>
              <a:t>Методы исследования:</a:t>
            </a:r>
            <a:endParaRPr lang="ru-RU" dirty="0"/>
          </a:p>
          <a:p>
            <a:r>
              <a:rPr lang="ru-RU" dirty="0"/>
              <a:t>Анализ документации API</a:t>
            </a:r>
          </a:p>
          <a:p>
            <a:r>
              <a:rPr lang="ru-RU" dirty="0"/>
              <a:t>Статистический метод (сбор данных)</a:t>
            </a:r>
          </a:p>
          <a:p>
            <a:r>
              <a:rPr lang="ru-RU" dirty="0"/>
              <a:t>Математическое моделирование</a:t>
            </a:r>
          </a:p>
          <a:p>
            <a:r>
              <a:rPr lang="ru-RU" dirty="0"/>
              <a:t>Веб-программирование (</a:t>
            </a:r>
            <a:r>
              <a:rPr lang="ru-RU" dirty="0" err="1"/>
              <a:t>Flask</a:t>
            </a:r>
            <a:r>
              <a:rPr lang="ru-RU" dirty="0"/>
              <a:t>, HTML/CSS/JS)</a:t>
            </a:r>
          </a:p>
          <a:p>
            <a:r>
              <a:rPr lang="ru-RU" dirty="0"/>
              <a:t>Эксперимент, тестирование, </a:t>
            </a:r>
            <a:r>
              <a:rPr lang="ru-RU" dirty="0" err="1"/>
              <a:t>деплой</a:t>
            </a:r>
            <a:endParaRPr lang="ru-RU" dirty="0"/>
          </a:p>
          <a:p>
            <a:r>
              <a:rPr lang="ru-RU" b="1" dirty="0"/>
              <a:t>Этапы:</a:t>
            </a:r>
            <a:endParaRPr lang="ru-RU" dirty="0"/>
          </a:p>
          <a:p>
            <a:r>
              <a:rPr lang="ru-RU" dirty="0"/>
              <a:t>Подготовка среды (</a:t>
            </a:r>
            <a:r>
              <a:rPr lang="ru-RU" dirty="0" err="1"/>
              <a:t>Python</a:t>
            </a:r>
            <a:r>
              <a:rPr lang="ru-RU" dirty="0"/>
              <a:t>, </a:t>
            </a:r>
            <a:r>
              <a:rPr lang="ru-RU" dirty="0" err="1"/>
              <a:t>Flask</a:t>
            </a:r>
            <a:r>
              <a:rPr lang="ru-RU" dirty="0"/>
              <a:t>, регистрация API)</a:t>
            </a:r>
          </a:p>
          <a:p>
            <a:r>
              <a:rPr lang="ru-RU" dirty="0"/>
              <a:t>Сбор и обработка данных (скрипт update_data.py, JSON)</a:t>
            </a:r>
          </a:p>
          <a:p>
            <a:r>
              <a:rPr lang="ru-RU" dirty="0"/>
              <a:t>Разработка </a:t>
            </a:r>
            <a:r>
              <a:rPr lang="ru-RU" dirty="0" err="1"/>
              <a:t>бэкенда</a:t>
            </a:r>
            <a:r>
              <a:rPr lang="ru-RU" dirty="0"/>
              <a:t> (маршруты /</a:t>
            </a:r>
            <a:r>
              <a:rPr lang="ru-RU" dirty="0" err="1"/>
              <a:t>get_teams</a:t>
            </a:r>
            <a:r>
              <a:rPr lang="ru-RU" dirty="0"/>
              <a:t>, /</a:t>
            </a:r>
            <a:r>
              <a:rPr lang="ru-RU" dirty="0" err="1"/>
              <a:t>predict</a:t>
            </a:r>
            <a:r>
              <a:rPr lang="ru-RU" dirty="0"/>
              <a:t>)</a:t>
            </a:r>
          </a:p>
          <a:p>
            <a:r>
              <a:rPr lang="ru-RU" dirty="0"/>
              <a:t>Разработка </a:t>
            </a:r>
            <a:r>
              <a:rPr lang="ru-RU" dirty="0" err="1"/>
              <a:t>фронтенда</a:t>
            </a:r>
            <a:r>
              <a:rPr lang="ru-RU" dirty="0"/>
              <a:t> (HTML, CSS, JS)</a:t>
            </a:r>
          </a:p>
          <a:p>
            <a:r>
              <a:rPr lang="ru-RU" dirty="0"/>
              <a:t>Отладка и тестирование</a:t>
            </a:r>
          </a:p>
          <a:p>
            <a:r>
              <a:rPr lang="ru-RU" dirty="0" err="1"/>
              <a:t>Деплой</a:t>
            </a:r>
            <a:r>
              <a:rPr lang="ru-RU" dirty="0"/>
              <a:t> на </a:t>
            </a:r>
            <a:r>
              <a:rPr lang="ru-RU" dirty="0" err="1" smtClean="0"/>
              <a:t>Railway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053295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10802550" cy="1400530"/>
          </a:xfrm>
        </p:spPr>
        <p:txBody>
          <a:bodyPr/>
          <a:lstStyle/>
          <a:p>
            <a:r>
              <a:rPr lang="ru-RU" b="1" dirty="0"/>
              <a:t> Алгоритм расчёта </a:t>
            </a:r>
            <a:r>
              <a:rPr lang="ru-RU" b="1" dirty="0" smtClean="0"/>
              <a:t>вероятносте</a:t>
            </a:r>
            <a:r>
              <a:rPr lang="ru-RU" b="1" dirty="0"/>
              <a:t>й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1353124"/>
            <a:ext cx="6270171" cy="3965326"/>
          </a:xfrm>
        </p:spPr>
        <p:txBody>
          <a:bodyPr>
            <a:normAutofit/>
          </a:bodyPr>
          <a:lstStyle/>
          <a:p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Формула: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Сила команды = (победы × 2 + ничьи × 1) / 5</a:t>
            </a: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С учётом дома: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home_power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= сила1 × 1,2;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away_power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= сила2 × 0,9</a:t>
            </a: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Ничья = 0,2 + (1 – разница сил) × 0,15 (от 20% до 35%)</a:t>
            </a:r>
          </a:p>
          <a:p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home_win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= (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home_power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/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общая_сила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) × (1 – ничья)</a:t>
            </a:r>
          </a:p>
          <a:p>
            <a:endParaRPr lang="ru-RU" dirty="0"/>
          </a:p>
        </p:txBody>
      </p:sp>
      <p:pic>
        <p:nvPicPr>
          <p:cNvPr id="4" name="Рисунок 3"/>
          <p:cNvPicPr/>
          <p:nvPr/>
        </p:nvPicPr>
        <p:blipFill>
          <a:blip r:embed="rId2"/>
          <a:stretch>
            <a:fillRect/>
          </a:stretch>
        </p:blipFill>
        <p:spPr>
          <a:xfrm>
            <a:off x="6270171" y="1152983"/>
            <a:ext cx="5940425" cy="5513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22107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Продукт проекта и интерфейс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" y="1325130"/>
            <a:ext cx="5449077" cy="4991694"/>
          </a:xfrm>
        </p:spPr>
        <p:txBody>
          <a:bodyPr>
            <a:normAutofit fontScale="92500" lnSpcReduction="10000"/>
          </a:bodyPr>
          <a:lstStyle/>
          <a:p>
            <a:r>
              <a:rPr lang="ru-RU" b="1" dirty="0"/>
              <a:t>Продукт:</a:t>
            </a:r>
            <a:r>
              <a:rPr lang="ru-RU" dirty="0"/>
              <a:t> Веб-приложение «</a:t>
            </a:r>
            <a:r>
              <a:rPr lang="en-US" dirty="0"/>
              <a:t>Football Guru»</a:t>
            </a:r>
          </a:p>
          <a:p>
            <a:r>
              <a:rPr lang="ru-RU" dirty="0"/>
              <a:t>Доступно по ссылке: </a:t>
            </a:r>
            <a:r>
              <a:rPr lang="en-US" dirty="0">
                <a:hlinkClick r:id="rId2"/>
              </a:rPr>
              <a:t>https://football-guru-95e6.up.railway.app</a:t>
            </a:r>
            <a:endParaRPr lang="en-US" dirty="0"/>
          </a:p>
          <a:p>
            <a:r>
              <a:rPr lang="ru-RU" dirty="0"/>
              <a:t>Исходный код: </a:t>
            </a:r>
            <a:r>
              <a:rPr lang="en-US" dirty="0"/>
              <a:t>GitHub-</a:t>
            </a:r>
            <a:r>
              <a:rPr lang="ru-RU" dirty="0" err="1"/>
              <a:t>репозиторий</a:t>
            </a:r>
            <a:endParaRPr lang="ru-RU" dirty="0"/>
          </a:p>
          <a:p>
            <a:r>
              <a:rPr lang="ru-RU" b="1" dirty="0"/>
              <a:t>Функционал:</a:t>
            </a:r>
            <a:endParaRPr lang="ru-RU" dirty="0"/>
          </a:p>
          <a:p>
            <a:r>
              <a:rPr lang="ru-RU" dirty="0"/>
              <a:t>Выбор лиги (5 топ-лиг)</a:t>
            </a:r>
          </a:p>
          <a:p>
            <a:r>
              <a:rPr lang="ru-RU" dirty="0"/>
              <a:t>Динамическая загрузка команд</a:t>
            </a:r>
          </a:p>
          <a:p>
            <a:r>
              <a:rPr lang="ru-RU" dirty="0"/>
              <a:t>Прогноз в процентах (победа, ничья, победа)</a:t>
            </a:r>
          </a:p>
          <a:p>
            <a:r>
              <a:rPr lang="ru-RU" dirty="0"/>
              <a:t>Кнопка «Новый прогноз»</a:t>
            </a:r>
          </a:p>
          <a:p>
            <a:r>
              <a:rPr lang="ru-RU" b="1" dirty="0"/>
              <a:t>Стек технологий:</a:t>
            </a:r>
            <a:r>
              <a:rPr lang="ru-RU" dirty="0"/>
              <a:t> </a:t>
            </a:r>
            <a:r>
              <a:rPr lang="en-US" dirty="0"/>
              <a:t>Python, Flask, HTML, CSS, JavaScript, Football Data API, Railway</a:t>
            </a:r>
            <a:r>
              <a:rPr lang="en-US" dirty="0" smtClean="0"/>
              <a:t>.</a:t>
            </a:r>
            <a:endParaRPr lang="en-US" dirty="0"/>
          </a:p>
        </p:txBody>
      </p:sp>
      <p:pic>
        <p:nvPicPr>
          <p:cNvPr id="4" name="Рисунок 3"/>
          <p:cNvPicPr/>
          <p:nvPr/>
        </p:nvPicPr>
        <p:blipFill>
          <a:blip r:embed="rId3"/>
          <a:stretch>
            <a:fillRect/>
          </a:stretch>
        </p:blipFill>
        <p:spPr>
          <a:xfrm>
            <a:off x="5348472" y="1671430"/>
            <a:ext cx="6836196" cy="3758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4439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71058" y="0"/>
            <a:ext cx="9404723" cy="1400530"/>
          </a:xfrm>
        </p:spPr>
        <p:txBody>
          <a:bodyPr/>
          <a:lstStyle/>
          <a:p>
            <a:pPr algn="ctr"/>
            <a:r>
              <a:rPr lang="ru-RU" b="1" dirty="0"/>
              <a:t>Риски и </a:t>
            </a:r>
            <a:r>
              <a:rPr lang="ru-RU" b="1" dirty="0" smtClean="0"/>
              <a:t>сложности</a:t>
            </a:r>
            <a:r>
              <a:rPr lang="ru-RU" b="1" dirty="0"/>
              <a:t/>
            </a:r>
            <a:br>
              <a:rPr lang="ru-RU" b="1" dirty="0"/>
            </a:br>
            <a:endParaRPr lang="ru-RU" dirty="0"/>
          </a:p>
        </p:txBody>
      </p:sp>
      <p:graphicFrame>
        <p:nvGraphicFramePr>
          <p:cNvPr id="6" name="Объект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18538565"/>
              </p:ext>
            </p:extLst>
          </p:nvPr>
        </p:nvGraphicFramePr>
        <p:xfrm>
          <a:off x="3135086" y="1400530"/>
          <a:ext cx="6520956" cy="4979437"/>
        </p:xfrm>
        <a:graphic>
          <a:graphicData uri="http://schemas.openxmlformats.org/drawingml/2006/table">
            <a:tbl>
              <a:tblPr/>
              <a:tblGrid>
                <a:gridCol w="3260478">
                  <a:extLst>
                    <a:ext uri="{9D8B030D-6E8A-4147-A177-3AD203B41FA5}">
                      <a16:colId xmlns:a16="http://schemas.microsoft.com/office/drawing/2014/main" val="2825114499"/>
                    </a:ext>
                  </a:extLst>
                </a:gridCol>
                <a:gridCol w="3260478">
                  <a:extLst>
                    <a:ext uri="{9D8B030D-6E8A-4147-A177-3AD203B41FA5}">
                      <a16:colId xmlns:a16="http://schemas.microsoft.com/office/drawing/2014/main" val="1744279836"/>
                    </a:ext>
                  </a:extLst>
                </a:gridCol>
              </a:tblGrid>
              <a:tr h="422498">
                <a:tc>
                  <a:txBody>
                    <a:bodyPr/>
                    <a:lstStyle/>
                    <a:p>
                      <a:pPr algn="l"/>
                      <a:r>
                        <a:rPr lang="ru-RU" sz="1500" b="0" dirty="0">
                          <a:effectLst/>
                          <a:latin typeface="quote-cjk-patch"/>
                        </a:rPr>
                        <a:t>Риск</a:t>
                      </a:r>
                    </a:p>
                  </a:txBody>
                  <a:tcPr marL="76287" marR="101715" marT="63572" marB="635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500" b="0">
                          <a:effectLst/>
                          <a:latin typeface="quote-cjk-patch"/>
                        </a:rPr>
                        <a:t>Решение</a:t>
                      </a:r>
                    </a:p>
                  </a:txBody>
                  <a:tcPr marL="101715" marR="101715" marT="63572" marB="635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9828279"/>
                  </a:ext>
                </a:extLst>
              </a:tr>
              <a:tr h="965709">
                <a:tc>
                  <a:txBody>
                    <a:bodyPr/>
                    <a:lstStyle/>
                    <a:p>
                      <a:r>
                        <a:rPr lang="ru-RU" sz="1500" b="0">
                          <a:effectLst/>
                          <a:latin typeface="quote-cjk-patch"/>
                        </a:rPr>
                        <a:t>Ограничение </a:t>
                      </a:r>
                      <a:r>
                        <a:rPr lang="en-US" sz="1500" b="0">
                          <a:effectLst/>
                          <a:latin typeface="quote-cjk-patch"/>
                        </a:rPr>
                        <a:t>API (10 </a:t>
                      </a:r>
                      <a:r>
                        <a:rPr lang="ru-RU" sz="1500" b="0">
                          <a:effectLst/>
                          <a:latin typeface="quote-cjk-patch"/>
                        </a:rPr>
                        <a:t>запросов/мин)</a:t>
                      </a:r>
                    </a:p>
                  </a:txBody>
                  <a:tcPr marL="76287" marR="101715" marT="63572" marB="635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500" b="0">
                          <a:effectLst/>
                          <a:latin typeface="quote-cjk-patch"/>
                        </a:rPr>
                        <a:t>Скрипт update_data.py с задержкой 6 секунд, данные в JSON</a:t>
                      </a:r>
                    </a:p>
                  </a:txBody>
                  <a:tcPr marL="101715" marR="76287" marT="63572" marB="635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7720072"/>
                  </a:ext>
                </a:extLst>
              </a:tr>
              <a:tr h="965709">
                <a:tc>
                  <a:txBody>
                    <a:bodyPr/>
                    <a:lstStyle/>
                    <a:p>
                      <a:r>
                        <a:rPr lang="ru-RU" sz="1500" b="0" dirty="0">
                          <a:effectLst/>
                          <a:latin typeface="quote-cjk-patch"/>
                        </a:rPr>
                        <a:t>Отсутствие поля </a:t>
                      </a:r>
                      <a:r>
                        <a:rPr lang="ru-RU" sz="1500" b="0" dirty="0" err="1">
                          <a:effectLst/>
                          <a:latin typeface="quote-cjk-patch"/>
                        </a:rPr>
                        <a:t>winner</a:t>
                      </a:r>
                      <a:r>
                        <a:rPr lang="ru-RU" sz="1500" b="0" dirty="0">
                          <a:effectLst/>
                          <a:latin typeface="quote-cjk-patch"/>
                        </a:rPr>
                        <a:t> в API</a:t>
                      </a:r>
                    </a:p>
                  </a:txBody>
                  <a:tcPr marL="76287" marR="101715" marT="63572" marB="635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500" b="0">
                          <a:effectLst/>
                          <a:latin typeface="quote-cjk-patch"/>
                        </a:rPr>
                        <a:t>Определение победителя через счёт (fullTime)</a:t>
                      </a:r>
                    </a:p>
                  </a:txBody>
                  <a:tcPr marL="101715" marR="76287" marT="63572" marB="635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164653"/>
                  </a:ext>
                </a:extLst>
              </a:tr>
              <a:tr h="694103">
                <a:tc>
                  <a:txBody>
                    <a:bodyPr/>
                    <a:lstStyle/>
                    <a:p>
                      <a:r>
                        <a:rPr lang="en-US" sz="1500" b="0">
                          <a:effectLst/>
                          <a:latin typeface="quote-cjk-patch"/>
                        </a:rPr>
                        <a:t>Railway </a:t>
                      </a:r>
                      <a:r>
                        <a:rPr lang="ru-RU" sz="1500" b="0">
                          <a:effectLst/>
                          <a:latin typeface="quote-cjk-patch"/>
                        </a:rPr>
                        <a:t>не находил </a:t>
                      </a:r>
                      <a:r>
                        <a:rPr lang="en-US" sz="1500" b="0">
                          <a:effectLst/>
                          <a:latin typeface="quote-cjk-patch"/>
                        </a:rPr>
                        <a:t>index.html</a:t>
                      </a:r>
                    </a:p>
                  </a:txBody>
                  <a:tcPr marL="76287" marR="101715" marT="63572" marB="635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500" b="0">
                          <a:effectLst/>
                          <a:latin typeface="quote-cjk-patch"/>
                        </a:rPr>
                        <a:t>Корректная структура: папка templates в корне</a:t>
                      </a:r>
                    </a:p>
                  </a:txBody>
                  <a:tcPr marL="101715" marR="76287" marT="63572" marB="635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1743586"/>
                  </a:ext>
                </a:extLst>
              </a:tr>
              <a:tr h="965709">
                <a:tc>
                  <a:txBody>
                    <a:bodyPr/>
                    <a:lstStyle/>
                    <a:p>
                      <a:r>
                        <a:rPr lang="ru-RU" sz="1500" b="0">
                          <a:effectLst/>
                          <a:latin typeface="quote-cjk-patch"/>
                        </a:rPr>
                        <a:t>Кнопка «Новый прогноз» исчезала</a:t>
                      </a:r>
                    </a:p>
                  </a:txBody>
                  <a:tcPr marL="76287" marR="101715" marT="63572" marB="635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500" b="0">
                          <a:effectLst/>
                          <a:latin typeface="quote-cjk-patch"/>
                        </a:rPr>
                        <a:t>Разделение контейнеров (result-content и back-button)</a:t>
                      </a:r>
                    </a:p>
                  </a:txBody>
                  <a:tcPr marL="101715" marR="76287" marT="63572" marB="635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2436525"/>
                  </a:ext>
                </a:extLst>
              </a:tr>
              <a:tr h="965709">
                <a:tc>
                  <a:txBody>
                    <a:bodyPr/>
                    <a:lstStyle/>
                    <a:p>
                      <a:r>
                        <a:rPr lang="ru-RU" sz="1500" b="0">
                          <a:effectLst/>
                          <a:latin typeface="quote-cjk-patch"/>
                        </a:rPr>
                        <a:t>Ничья обнулялась</a:t>
                      </a:r>
                    </a:p>
                  </a:txBody>
                  <a:tcPr marL="76287" marR="101715" marT="63572" marB="635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500" b="0" dirty="0">
                          <a:effectLst/>
                          <a:latin typeface="quote-cjk-patch"/>
                        </a:rPr>
                        <a:t>Формула с зависимостью от разницы сил (20–35%)</a:t>
                      </a:r>
                    </a:p>
                  </a:txBody>
                  <a:tcPr marL="101715" marR="76287" marT="63572" marB="635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90774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9495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03312" y="0"/>
            <a:ext cx="9442580" cy="1400530"/>
          </a:xfrm>
        </p:spPr>
        <p:txBody>
          <a:bodyPr/>
          <a:lstStyle/>
          <a:p>
            <a:pPr algn="ctr"/>
            <a:r>
              <a:rPr lang="ru-RU" sz="4000" b="1" dirty="0">
                <a:latin typeface="Arial" panose="020B0604020202020204" pitchFamily="34" charset="0"/>
                <a:cs typeface="Arial" panose="020B0604020202020204" pitchFamily="34" charset="0"/>
              </a:rPr>
              <a:t>Положительные эффекты, </a:t>
            </a:r>
            <a:r>
              <a:rPr lang="en-US" sz="4000" b="1" dirty="0" smtClean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4000" b="1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4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перспектива</a:t>
            </a:r>
            <a:r>
              <a:rPr lang="ru-RU" sz="4000" b="1" dirty="0">
                <a:latin typeface="Arial" panose="020B0604020202020204" pitchFamily="34" charset="0"/>
                <a:cs typeface="Arial" panose="020B0604020202020204" pitchFamily="34" charset="0"/>
              </a:rPr>
              <a:t>, итоги</a:t>
            </a:r>
            <a:r>
              <a:rPr lang="ru-RU" b="1" dirty="0"/>
              <a:t/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1679694"/>
            <a:ext cx="8946541" cy="4195481"/>
          </a:xfrm>
        </p:spPr>
        <p:txBody>
          <a:bodyPr>
            <a:normAutofit lnSpcReduction="10000"/>
          </a:bodyPr>
          <a:lstStyle/>
          <a:p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Для автора: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 Закрепление навыков веб-программирования, работы с API, проект в портфолио.</a:t>
            </a:r>
          </a:p>
          <a:p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Для пользователей: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 Бесплатный инструмент для оценки шансов команд, не требует установки.</a:t>
            </a:r>
          </a:p>
          <a:p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Перспективы: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Учёт личных встреч</a:t>
            </a: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Статистика атаки/защиты</a:t>
            </a: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Автоматическое ежедневное обновление данных</a:t>
            </a: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Telegram-бот с прогнозами</a:t>
            </a:r>
          </a:p>
          <a:p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Итог: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 Цель достигнута, гипотеза подтверждена, проект работает стабильно и доступен в интернете</a:t>
            </a: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762661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он">
  <a:themeElements>
    <a:clrScheme name="Ион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Ион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Ион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38</TotalTime>
  <Words>247</Words>
  <Application>Microsoft Office PowerPoint</Application>
  <PresentationFormat>Широкоэкранный</PresentationFormat>
  <Paragraphs>65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4" baseType="lpstr">
      <vt:lpstr>Algerian</vt:lpstr>
      <vt:lpstr>Arial</vt:lpstr>
      <vt:lpstr>Century Gothic</vt:lpstr>
      <vt:lpstr>quote-cjk-patch</vt:lpstr>
      <vt:lpstr>Wingdings 3</vt:lpstr>
      <vt:lpstr>Ион</vt:lpstr>
      <vt:lpstr>Football guru</vt:lpstr>
      <vt:lpstr>Актуальность, проблема, цель </vt:lpstr>
      <vt:lpstr>Объект, предмет, гипотеза, задачи </vt:lpstr>
      <vt:lpstr>Методы и этапы реализации </vt:lpstr>
      <vt:lpstr> Алгоритм расчёта вероятностей </vt:lpstr>
      <vt:lpstr>Продукт проекта и интерфейс </vt:lpstr>
      <vt:lpstr>Риски и сложности </vt:lpstr>
      <vt:lpstr>Положительные эффекты,  перспектива, итоги 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Football guru</dc:title>
  <dc:creator>Andrey</dc:creator>
  <cp:lastModifiedBy>Andrey</cp:lastModifiedBy>
  <cp:revision>5</cp:revision>
  <dcterms:created xsi:type="dcterms:W3CDTF">2026-05-04T12:33:11Z</dcterms:created>
  <dcterms:modified xsi:type="dcterms:W3CDTF">2026-05-04T13:11:47Z</dcterms:modified>
</cp:coreProperties>
</file>